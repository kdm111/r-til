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3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23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28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109728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pymodbus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005840" cy="10058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640080"/>
            <a:ext cx="640080" cy="64008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8229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PLC-PC 연동</a:t>
            </a:r>
            <a:endParaRPr lang="en-US" sz="3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스마트 팩토리 제어 시스템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명령 기반 Modbus TCP 통신으로 PLC 제어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828800" y="4206240"/>
            <a:ext cx="5486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9"/>
          <p:cNvSpPr/>
          <p:nvPr/>
        </p:nvSpPr>
        <p:spPr>
          <a:xfrm>
            <a:off x="274320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박준수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82880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서울기술교육센터  |  AI융합 로봇SW 개발자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28600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프로그래밍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동기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8745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468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063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명령 시스템 설계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6576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레지스터 매핑 및 트리거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251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아키텍처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48463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현황 및 한계점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4406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배경 및 동기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3" name="그림 14" descr="/Users/junsupark/Library/Group Containers/L48J367XN4.com.infraware.PolarisOffice/EngineTemp/4306/fImage1991184459549.png">
            <a:extLst>
              <a:ext uri="{FF2B5EF4-FFF2-40B4-BE49-F238E27FC236}">
                <a16:creationId xmlns:a16="http://schemas.microsoft.com/office/drawing/2014/main" id="{10DDD18A-95D0-45B7-8B3C-87196D0426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96" y="3920712"/>
            <a:ext cx="2772000" cy="2494235"/>
          </a:xfrm>
          <a:prstGeom prst="rect">
            <a:avLst/>
          </a:prstGeom>
          <a:noFill/>
        </p:spPr>
      </p:pic>
      <p:pic>
        <p:nvPicPr>
          <p:cNvPr id="34" name="그림 8" descr="/Users/junsupark/Library/Group Containers/L48J367XN4.com.infraware.PolarisOffice/EngineTemp/4306/fImage1209864399266.png">
            <a:extLst>
              <a:ext uri="{FF2B5EF4-FFF2-40B4-BE49-F238E27FC236}">
                <a16:creationId xmlns:a16="http://schemas.microsoft.com/office/drawing/2014/main" id="{C9C862D5-1AEE-4F17-A60F-D00EEE64860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65" y="949954"/>
            <a:ext cx="2772000" cy="2494235"/>
          </a:xfrm>
          <a:prstGeom prst="rect">
            <a:avLst/>
          </a:prstGeom>
          <a:noFill/>
        </p:spPr>
      </p:pic>
      <p:pic>
        <p:nvPicPr>
          <p:cNvPr id="35" name="그림 9" descr="/Users/junsupark/Library/Group Containers/L48J367XN4.com.infraware.PolarisOffice/EngineTemp/4306/fImage1738474407467.png">
            <a:extLst>
              <a:ext uri="{FF2B5EF4-FFF2-40B4-BE49-F238E27FC236}">
                <a16:creationId xmlns:a16="http://schemas.microsoft.com/office/drawing/2014/main" id="{C3A32D94-785D-471A-B2EE-407797FCA00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530" y="949954"/>
            <a:ext cx="2772000" cy="2494235"/>
          </a:xfrm>
          <a:prstGeom prst="rect">
            <a:avLst/>
          </a:prstGeom>
          <a:noFill/>
        </p:spPr>
      </p:pic>
      <p:pic>
        <p:nvPicPr>
          <p:cNvPr id="36" name="그림 12" descr="/Users/junsupark/Library/Group Containers/L48J367XN4.com.infraware.PolarisOffice/EngineTemp/4306/fImage172546443110.png">
            <a:extLst>
              <a:ext uri="{FF2B5EF4-FFF2-40B4-BE49-F238E27FC236}">
                <a16:creationId xmlns:a16="http://schemas.microsoft.com/office/drawing/2014/main" id="{F0562B1C-F57A-4CB0-A50B-1D988203B4B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3946970"/>
            <a:ext cx="2772000" cy="2494235"/>
          </a:xfrm>
          <a:prstGeom prst="rect">
            <a:avLst/>
          </a:prstGeom>
          <a:noFill/>
        </p:spPr>
      </p:pic>
      <p:pic>
        <p:nvPicPr>
          <p:cNvPr id="37" name="그림 13" descr="/Users/junsupark/Library/Group Containers/L48J367XN4.com.infraware.PolarisOffice/EngineTemp/4306/fImage2185114449589.png">
            <a:extLst>
              <a:ext uri="{FF2B5EF4-FFF2-40B4-BE49-F238E27FC236}">
                <a16:creationId xmlns:a16="http://schemas.microsoft.com/office/drawing/2014/main" id="{0E669E2C-FA9D-4380-996C-A19D9171747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5" y="3946335"/>
            <a:ext cx="2772000" cy="2494235"/>
          </a:xfrm>
          <a:prstGeom prst="rect">
            <a:avLst/>
          </a:prstGeom>
          <a:noFill/>
        </p:spPr>
      </p:pic>
      <p:pic>
        <p:nvPicPr>
          <p:cNvPr id="38" name="그림 10" descr="/Users/junsupark/Library/Group Containers/L48J367XN4.com.infraware.PolarisOffice/EngineTemp/4306/fImage1653534416327.png">
            <a:extLst>
              <a:ext uri="{FF2B5EF4-FFF2-40B4-BE49-F238E27FC236}">
                <a16:creationId xmlns:a16="http://schemas.microsoft.com/office/drawing/2014/main" id="{5EAE5B2A-097E-4BC0-8768-1B30C2F8D2E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856" y="894074"/>
            <a:ext cx="2772000" cy="24942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307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배경 및 동기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6459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실습 환경 — MPS(Modular Production System)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 → 가공 → 분배 → 저장/배출 공정을 PLC(Q03UDE)로 제어하는 MPS 실습 장비 활용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GX Works2 래더 프로그래밍으로 설비 I/O 제어 학습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자격요건에 통신이 존재하므로 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장비를 PC에서 원격 제어할 수 있다면? → 프로젝트 출발점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채용시장 — 필요 역량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자격요건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C/C++/Python 코딩 역량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(RS-232/CAN/TCP/IP)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 (ARM/UART/I2C)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우대사항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ROS(1/2) 시뮬레이션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Docker/DB/Elastic Search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로깅, MQTT/Redis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384048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문제 의식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4983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단독 로직의 한계 — AI·복잡 연산 불가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유연한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공정 변경 어려움 — 래더 수정 부담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572000"/>
            <a:ext cx="384048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4572000"/>
            <a:ext cx="73152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아이디어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20640" y="4983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"PC가 두뇌, PLC가 근육"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120640" y="5394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판단 → Modbus 전송 → PLC 실행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0" y="5806440"/>
            <a:ext cx="9601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0" y="58064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판단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583680" y="5806440"/>
            <a:ext cx="9601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6583680" y="58064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전송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680960" y="5806440"/>
            <a:ext cx="9601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29"/>
          <p:cNvSpPr/>
          <p:nvPr/>
        </p:nvSpPr>
        <p:spPr>
          <a:xfrm>
            <a:off x="7680960" y="58064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실행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1231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47340" y="228600"/>
            <a:ext cx="6113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1920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234440"/>
            <a:ext cx="54864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39903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Modbus TCP 소켓 연결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↔ PLC 간 안정적인 TCP/IP 소켓 기반 통신 채널 구축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097280"/>
            <a:ext cx="3931920" cy="1920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3"/>
          <p:cNvSpPr/>
          <p:nvPr/>
        </p:nvSpPr>
        <p:spPr>
          <a:xfrm>
            <a:off x="7955280" y="1234440"/>
            <a:ext cx="5486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8348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39903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자연어 명령 체계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98348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"가공 적재" 같은 한국어 조합 명령으로 PLC 공정을 자동 실행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3291840"/>
            <a:ext cx="3931920" cy="1920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329184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0"/>
          <p:cNvSpPr/>
          <p:nvPr/>
        </p:nvSpPr>
        <p:spPr>
          <a:xfrm>
            <a:off x="3657600" y="3429000"/>
            <a:ext cx="5486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1"/>
          <p:cNvSpPr/>
          <p:nvPr/>
        </p:nvSpPr>
        <p:spPr>
          <a:xfrm>
            <a:off x="365760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85800" y="35204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593592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전/후공정 병렬 설계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85800" y="4206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레지스터를 분리하여 전공정·후공정을 독립적으로 제어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754880" y="3291840"/>
            <a:ext cx="3931920" cy="1920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54880" y="329184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27"/>
          <p:cNvSpPr/>
          <p:nvPr/>
        </p:nvSpPr>
        <p:spPr>
          <a:xfrm>
            <a:off x="7955280" y="3429000"/>
            <a:ext cx="5486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8"/>
          <p:cNvSpPr/>
          <p:nvPr/>
        </p:nvSpPr>
        <p:spPr>
          <a:xfrm>
            <a:off x="795528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4983480" y="35204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593592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6928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실시간 모니터링 UI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4983480" y="4206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웹 대시보드로 장비 상태·공정 데이터를 실시간 확인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8229600" cy="50292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457200" y="5669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목표:  한 줄 명령 → PLC가 이해 → 설비 자동 실행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2926080" cy="3657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926080" cy="45720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PLC (Q03UDV)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래더 프로그램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993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X0~X1C 센서값 입력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340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D5105~ 상태 레지스터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6883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D6363~ 명령 수신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035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이더넷 모듈 내장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861" y="34747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설비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00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Modbus TCP/IP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74720" y="2377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192.168.3.40 : 502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0" y="2743200"/>
            <a:ext cx="1828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365760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FC02 DI 읽기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0" y="3200400"/>
            <a:ext cx="182880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FC03 HR 읽기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0" y="3657600"/>
            <a:ext cx="1828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1"/>
          <p:cNvSpPr/>
          <p:nvPr/>
        </p:nvSpPr>
        <p:spPr>
          <a:xfrm>
            <a:off x="3657600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FC16 HR 쓰기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063240" y="2468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▶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715000" y="2468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▶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943600" y="1051560"/>
            <a:ext cx="2926080" cy="3657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943600" y="1051560"/>
            <a:ext cx="292608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11556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46520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서버 (PC)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08076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pymodbus 서버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080760" y="1993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자연어 명령 파서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080760" y="2340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트리거 관리 로직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080760" y="26883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Streamlit 대시보드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080760" y="3035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소켓 연결 관리</a:t>
            </a:r>
            <a:endParaRPr lang="en-US" sz="11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347472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12648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(명령)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4320" y="5120640"/>
            <a:ext cx="85953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Text 34"/>
          <p:cNvSpPr/>
          <p:nvPr/>
        </p:nvSpPr>
        <p:spPr>
          <a:xfrm>
            <a:off x="274320" y="5120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"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ko-K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후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적재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입력 → PC 파싱 → HR100~106 쓰기 → PLC 래더 실행 →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</a:rPr>
              <a:t>Python PC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0A2A5AB8-7345-4672-9B8E-0AA0B350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0" y="1366042"/>
            <a:ext cx="9144000" cy="438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3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서버 (PC) — Streamlit UI 구성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5120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서버 설정 (사이드바)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서버 시작/정지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192.168.3.40 / Port: 502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상태 실시간 표시 (🟢/🔴)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갱신 주기 설정 (500~5000ms)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로그 실시간 출력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주요 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장비상태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840480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공정데이터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2245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레지스터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4224528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42245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가이드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60857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히스토리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4608576"/>
            <a:ext cx="1691640" cy="320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460857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디버그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장비상태: 실린더/센서 ON/OFF 실시간 표시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공정데이터: 온도·압력·진동 수치 모니터링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레지스터: HR/DI 값 직접 조회·수정 가능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3840480" cy="5120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명령 제어 (메인 영역)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입력 → 자연어 파싱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286000"/>
            <a:ext cx="105156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2860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286000"/>
            <a:ext cx="105156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2860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286000"/>
            <a:ext cx="105156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2860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후공정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017520"/>
            <a:ext cx="7772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0175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16168" y="3017520"/>
            <a:ext cx="7772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5916168" y="30175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3017520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803136" y="30175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90104" y="3017520"/>
            <a:ext cx="7772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7690104" y="30175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하역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749040"/>
            <a:ext cx="77724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749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실행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16168" y="3749040"/>
            <a:ext cx="7772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5916168" y="3749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가공→적재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03136" y="3749040"/>
            <a:ext cx="7772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6803136" y="3749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정지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90104" y="3749040"/>
            <a:ext cx="77724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2" name="Text 50"/>
          <p:cNvSpPr/>
          <p:nvPr/>
        </p:nvSpPr>
        <p:spPr>
          <a:xfrm>
            <a:off x="7690104" y="37490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리셋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0" y="4297680"/>
            <a:ext cx="3474720" cy="457200"/>
          </a:xfrm>
          <a:prstGeom prst="rect">
            <a:avLst/>
          </a:prstGeom>
          <a:solidFill>
            <a:srgbClr val="F0F0FF"/>
          </a:solidFill>
          <a:ln/>
        </p:spPr>
      </p:sp>
      <p:sp>
        <p:nvSpPr>
          <p:cNvPr id="54" name="Text 52"/>
          <p:cNvSpPr/>
          <p:nvPr/>
        </p:nvSpPr>
        <p:spPr>
          <a:xfrm>
            <a:off x="51206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"가공 적재" 입력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HR100=2, HR102=2203, HR106=2301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5029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히스토리: 모든 명령 실행 기록 자동 저장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디버그: 포트 테스트, pymodbus 버전, 스레드 상태 확인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자연어 명령 시스템 설계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5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설계 철학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사전에 정의한 약속(전공정·후공정 단어)을 조합하면, 한 줄 명령으로 PLC가 이해하고 실행되는 구조.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"가공 적재" → 전공정=가공(2), 후공정=적재(2203) → HR100=2, HR102=2203, HR106=2301 → PLC 순차 실행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명령어 매핑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전공정 (HR100→HR104=2101)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2560320" cy="1036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29184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후공정 (HR102→HR105=22xx)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2926080"/>
          <a:ext cx="2560320" cy="1295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1264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 실행 예시</a:t>
            </a:r>
            <a:endParaRPr lang="en-US" sz="11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926080"/>
          <a:ext cx="2560320" cy="1295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"2회 가공"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전공정만 (2101)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"적재 실행"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후공정만 (2203)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"가공 적재"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순차실행 (2301)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"정지"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HR107=1 +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457200" y="5029200"/>
            <a:ext cx="8229600" cy="777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50749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실행:  전공정·후공정 레지스터 분리 배치 → 독립 트리거(2101, 22xx)로 동시 명령 가능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실행: 전공정 완료 후 자동 후공정 진입  |  펄스 방식: 0.5초 후 트리거 자동 OFF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레지스터 매핑 및 트리거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0~19  PLC → PC (상태 읽기)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931920" cy="1813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상태 (0~10)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10~11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서보/트레일러 위치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12~14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압력·온도·진동 (×10)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15~16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전/후공정 완료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107~108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정지/리셋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100~119  PC → PLC (명령 쓰기)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1813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전공정 명령 (1/2/3)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후공정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전공정 트리거 (2101)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후공정 트리거 (22xx)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순차 트리거 (2301)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하트비트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트리거 코드 동작 흐름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320" y="4023360"/>
            <a:ext cx="1508760" cy="77724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4023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코드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HR100/102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78308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057400" y="4023360"/>
            <a:ext cx="150876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057400" y="4023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HR104=2101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6616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13"/>
          <p:cNvSpPr/>
          <p:nvPr/>
        </p:nvSpPr>
        <p:spPr>
          <a:xfrm>
            <a:off x="3840480" y="4023360"/>
            <a:ext cx="1508760" cy="7772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840480" y="4023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래더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성립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34924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23560" y="4023360"/>
            <a:ext cx="1508760" cy="77724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623560" y="4023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실행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(PLC 동작)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132320" y="4206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406640" y="4023360"/>
            <a:ext cx="1508760" cy="77724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406640" y="4023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 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OFF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74320" y="5120640"/>
            <a:ext cx="85953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2"/>
          <p:cNvSpPr/>
          <p:nvPr/>
        </p:nvSpPr>
        <p:spPr>
          <a:xfrm>
            <a:off x="274320" y="5120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펄스 방식: 트리거를 자동으로 끄는 이유 → PLC 래더가 상승 에지(Rising Edge)로 동작하기 때문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28600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레지스터 매핑 — PLC 래더 프로그래밍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28EB7015-2362-41BA-B10A-BF601BD6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7471"/>
            <a:ext cx="9144000" cy="145305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5A9232F-C03D-4A61-BACF-104C82EDD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07" y="3001826"/>
            <a:ext cx="8731624" cy="3108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01706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소프트웨어 아키텍처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990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173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0" y="1143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장비상태 (DI) · 공정데이터 (HR) · 명령입력 · 로그 · 레지스터 뷰어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8229600" cy="1234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5603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9077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4173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파서 + 제어 로직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931920" y="26517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 NLP 파서 · 전/후공정 분리 · 순차/병렬 판단 · 펄스 스레드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4069080"/>
            <a:ext cx="8229600" cy="1234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4069080"/>
            <a:ext cx="73152" cy="12344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Shape 1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1A1F3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41655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41732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pymodbus TCP Server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931920" y="4160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HR/DI 읽기쓰기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297680" y="22860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297680" y="37947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5"/>
          <p:cNvSpPr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서버 파일 구조  |  threading: 비동기 소켓/펄스  |  session_state: UI 상태 유지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201706"/>
            <a:ext cx="603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현황 및 한계점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3291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3291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구현 완료 (소켓 연결 기반)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52704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서버 구동 및 소켓 연결 확인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8928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DI 데이터 구조 설계 및 매핑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25856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명령 파서 (정규식 기반)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62432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전/후공정 분리 트리거 시스템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299008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웹 UI 대시보드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846320" y="1051560"/>
            <a:ext cx="3840480" cy="3291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846320" y="105156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4"/>
          <p:cNvSpPr/>
          <p:nvPr/>
        </p:nvSpPr>
        <p:spPr>
          <a:xfrm>
            <a:off x="512064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미구현 / 한계점</a:t>
            </a:r>
            <a:endParaRPr lang="en-US" sz="1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5448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4960" y="152704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PLC 장비와의 실시간 연동 테스트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92024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18928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시퀀스 자동화 완성도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28600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225856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핸들링 및 소켓 재연결 로직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51760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94960" y="262432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로깅 / 이력 DB 저장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0"/>
          <p:cNvSpPr/>
          <p:nvPr/>
        </p:nvSpPr>
        <p:spPr>
          <a:xfrm>
            <a:off x="457200" y="4617720"/>
            <a:ext cx="32918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1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 연결 및 기본 통신 구현 완료 — 약 40%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94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결론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30175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통신의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구조를 직접 설계·구현하며,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PLC-PC 연동 제어의 실무적 기초와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명령 체계의 가능성을 확인했습니다.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박준수  |  서울기술교육센터  |  AI융합 로봇SW 개발자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1095</Words>
  <Application>Microsoft Office PowerPoint</Application>
  <PresentationFormat>화면 슬라이드 쇼(4:3)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PLC-PC 연동 스마트 팩토리 제어 시스템</dc:title>
  <dc:subject>PptxGenJS Presentation</dc:subject>
  <dc:creator>박준수</dc:creator>
  <cp:lastModifiedBy>user</cp:lastModifiedBy>
  <cp:revision>9</cp:revision>
  <dcterms:created xsi:type="dcterms:W3CDTF">2026-02-09T00:31:21Z</dcterms:created>
  <dcterms:modified xsi:type="dcterms:W3CDTF">2026-02-09T01:56:48Z</dcterms:modified>
</cp:coreProperties>
</file>